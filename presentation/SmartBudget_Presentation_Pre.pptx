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65" r:id="rId2"/>
    <p:sldId id="992" r:id="rId3"/>
    <p:sldId id="993" r:id="rId4"/>
    <p:sldId id="995" r:id="rId5"/>
    <p:sldId id="997" r:id="rId6"/>
    <p:sldId id="998" r:id="rId7"/>
    <p:sldId id="996" r:id="rId8"/>
    <p:sldId id="1001" r:id="rId9"/>
    <p:sldId id="1003" r:id="rId10"/>
  </p:sldIdLst>
  <p:sldSz cx="9144000" cy="5143500" type="screen16x9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AFACE8-9C5B-4EB8-B892-3F925D49A0F2}">
          <p14:sldIdLst>
            <p14:sldId id="565"/>
            <p14:sldId id="992"/>
            <p14:sldId id="993"/>
            <p14:sldId id="995"/>
            <p14:sldId id="997"/>
            <p14:sldId id="998"/>
            <p14:sldId id="996"/>
            <p14:sldId id="1001"/>
            <p14:sldId id="10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8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7"/>
    <p:restoredTop sz="96159" autoAdjust="0"/>
  </p:normalViewPr>
  <p:slideViewPr>
    <p:cSldViewPr showGuides="1">
      <p:cViewPr>
        <p:scale>
          <a:sx n="100" d="100"/>
          <a:sy n="100" d="100"/>
        </p:scale>
        <p:origin x="483" y="327"/>
      </p:cViewPr>
      <p:guideLst>
        <p:guide orient="horz" pos="166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3546" y="78"/>
      </p:cViewPr>
      <p:guideLst>
        <p:guide orient="horz" pos="3018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B8343-857D-4973-A47C-BFBF7FD1F314}" type="datetimeFigureOut">
              <a:rPr lang="en-CA" smtClean="0"/>
              <a:t>2025-11-25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2228-6213-4DA8-A66E-0E10BE9C9D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1" y="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/>
          <a:lstStyle>
            <a:lvl1pPr algn="r">
              <a:defRPr sz="1300"/>
            </a:lvl1pPr>
          </a:lstStyle>
          <a:p>
            <a:fld id="{D2949B78-ECBF-4D79-8EE0-7EEBA90FC5B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5538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91" tIns="46647" rIns="93291" bIns="466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291" tIns="46647" rIns="93291" bIns="4664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1" y="884203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 anchor="b"/>
          <a:lstStyle>
            <a:lvl1pPr algn="r">
              <a:defRPr sz="1300"/>
            </a:lvl1pPr>
          </a:lstStyle>
          <a:p>
            <a:fld id="{A34CEF61-6081-4889-BDED-2ADA6FECE21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CEF61-6081-4889-BDED-2ADA6FECE219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2015_Hover_Aerials_Okanagan_6389-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07950" y="1131888"/>
            <a:ext cx="6122988" cy="273526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8" name="Picture 3" descr="s4b282c2015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65587" y="1332646"/>
            <a:ext cx="5430376" cy="1671152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400" b="1" i="0" kern="0" cap="none" spc="30" baseline="0">
                <a:solidFill>
                  <a:srgbClr val="002040"/>
                </a:solidFill>
                <a:latin typeface="Arial" panose="020B0704020202020204"/>
                <a:cs typeface="Arial" panose="020B0704020202020204"/>
              </a:defRPr>
            </a:lvl1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65760" y="3003798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800" b="0" i="0" kern="0" spc="30" baseline="0">
                <a:solidFill>
                  <a:srgbClr val="002040"/>
                </a:solidFill>
                <a:latin typeface="Arial" panose="020B0704020202020204"/>
                <a:cs typeface="Arial" panose="020B0704020202020204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UBCO Master of Data Science - &lt;course number&gt;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65760" y="3507854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000" b="1" i="0" kern="0" cap="all" spc="150" normalizeH="0" baseline="0">
                <a:solidFill>
                  <a:srgbClr val="0C2344"/>
                </a:solidFill>
                <a:latin typeface="Arial" panose="020B0704020202020204"/>
                <a:cs typeface="Arial" panose="020B0704020202020204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599" cy="819150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l">
              <a:lnSpc>
                <a:spcPct val="89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76560"/>
            <a:ext cx="9017925" cy="4209789"/>
          </a:xfrm>
        </p:spPr>
        <p:txBody>
          <a:bodyPr/>
          <a:lstStyle>
            <a:lvl1pPr marL="90170" indent="-90170">
              <a:lnSpc>
                <a:spcPct val="89000"/>
              </a:lnSpc>
              <a:spcBef>
                <a:spcPts val="1000"/>
              </a:spcBef>
              <a:buFont typeface="Calibri" panose="020F0502020204030204" pitchFamily="34" charset="0"/>
              <a:buChar char=" "/>
              <a:defRPr/>
            </a:lvl1pPr>
            <a:lvl2pPr marL="457200" indent="-219710">
              <a:lnSpc>
                <a:spcPct val="89000"/>
              </a:lnSpc>
              <a:defRPr/>
            </a:lvl2pPr>
            <a:lvl3pPr marL="731520">
              <a:lnSpc>
                <a:spcPct val="89000"/>
              </a:lnSpc>
              <a:defRPr>
                <a:solidFill>
                  <a:srgbClr val="FFC000"/>
                </a:solidFill>
              </a:defRPr>
            </a:lvl3pPr>
            <a:lvl4pPr>
              <a:lnSpc>
                <a:spcPct val="89000"/>
              </a:lnSpc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(white bg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599" cy="819150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l">
              <a:lnSpc>
                <a:spcPct val="89000"/>
              </a:lnSpc>
              <a:defRPr sz="3200">
                <a:solidFill>
                  <a:srgbClr val="00204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38" y="819150"/>
            <a:ext cx="9031287" cy="4267200"/>
          </a:xfrm>
        </p:spPr>
        <p:txBody>
          <a:bodyPr/>
          <a:lstStyle>
            <a:lvl1pPr marL="91440" indent="-91440">
              <a:lnSpc>
                <a:spcPct val="89000"/>
              </a:lnSpc>
              <a:spcBef>
                <a:spcPts val="1000"/>
              </a:spcBef>
              <a:buFont typeface="Symbol" pitchFamily="18" charset="2"/>
              <a:buChar char=" "/>
              <a:defRPr>
                <a:solidFill>
                  <a:srgbClr val="002040"/>
                </a:solidFill>
              </a:defRPr>
            </a:lvl1pPr>
            <a:lvl2pPr marL="457200" indent="-219710">
              <a:lnSpc>
                <a:spcPct val="89000"/>
              </a:lnSpc>
              <a:defRPr>
                <a:solidFill>
                  <a:srgbClr val="002040"/>
                </a:solidFill>
              </a:defRPr>
            </a:lvl2pPr>
            <a:lvl3pPr marL="731520">
              <a:lnSpc>
                <a:spcPct val="89000"/>
              </a:lnSpc>
              <a:defRPr>
                <a:solidFill>
                  <a:srgbClr val="002040"/>
                </a:solidFill>
              </a:defRPr>
            </a:lvl3pPr>
            <a:lvl4pPr>
              <a:lnSpc>
                <a:spcPct val="89000"/>
              </a:lnSpc>
              <a:defRPr>
                <a:solidFill>
                  <a:srgbClr val="002040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4" name="Picture 1" descr="s4b282c2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531" y="220356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5"/>
          <p:cNvSpPr>
            <a:spLocks noChangeShapeType="1"/>
          </p:cNvSpPr>
          <p:nvPr userDrawn="1"/>
        </p:nvSpPr>
        <p:spPr bwMode="auto">
          <a:xfrm flipV="1">
            <a:off x="62838" y="832567"/>
            <a:ext cx="9031287" cy="0"/>
          </a:xfrm>
          <a:prstGeom prst="line">
            <a:avLst/>
          </a:prstGeom>
          <a:noFill/>
          <a:ln w="47625" cmpd="thinThick">
            <a:solidFill>
              <a:srgbClr val="00204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Placeholder 14"/>
          <p:cNvSpPr txBox="1"/>
          <p:nvPr userDrawn="1"/>
        </p:nvSpPr>
        <p:spPr>
          <a:xfrm flipH="1">
            <a:off x="8783528" y="4823277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704020202020204" pitchFamily="34" charset="0"/>
              <a:buNone/>
              <a:defRPr/>
            </a:pPr>
            <a:fld id="{502CAF39-FB8C-4AC0-85DB-1596783B46C6}" type="slidenum">
              <a:rPr lang="en-US" altLang="en-US" sz="1800" smtClean="0">
                <a:solidFill>
                  <a:srgbClr val="002040"/>
                </a:solidFill>
                <a:cs typeface="Arial" panose="020B0704020202020204" pitchFamily="34" charset="0"/>
              </a:rPr>
              <a:t>‹#›</a:t>
            </a:fld>
            <a:endParaRPr lang="en-CA" altLang="en-US" sz="1800" dirty="0">
              <a:solidFill>
                <a:srgbClr val="002040"/>
              </a:solidFill>
              <a:cs typeface="Arial" panose="020B07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081969092_65874fd6f2_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0" y="1131888"/>
            <a:ext cx="4716463" cy="10795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+mn-ea"/>
              <a:cs typeface="+mn-cs"/>
            </a:endParaRPr>
          </a:p>
        </p:txBody>
      </p:sp>
      <p:pic>
        <p:nvPicPr>
          <p:cNvPr id="4" name="Picture 3" descr="UBC_2016_Signature_Wide_28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439863"/>
            <a:ext cx="38957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38" y="895350"/>
            <a:ext cx="9031287" cy="427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 flipV="1">
            <a:off x="62838" y="832567"/>
            <a:ext cx="9031287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66504" y="2020"/>
            <a:ext cx="9027621" cy="7762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4"/>
          <p:cNvSpPr txBox="1"/>
          <p:nvPr userDrawn="1"/>
        </p:nvSpPr>
        <p:spPr>
          <a:xfrm flipH="1">
            <a:off x="8752762" y="4823277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704020202020204" pitchFamily="34" charset="0"/>
              <a:buNone/>
              <a:defRPr/>
            </a:pPr>
            <a:fld id="{502CAF39-FB8C-4AC0-85DB-1596783B46C6}" type="slidenum">
              <a:rPr lang="en-US" altLang="en-US" sz="1800" smtClean="0">
                <a:cs typeface="Arial" panose="020B0704020202020204" pitchFamily="34" charset="0"/>
              </a:rPr>
              <a:t>‹#›</a:t>
            </a:fld>
            <a:endParaRPr lang="en-CA" altLang="en-US" sz="1800" dirty="0">
              <a:cs typeface="Arial" panose="020B0704020202020204" pitchFamily="34" charset="0"/>
            </a:endParaRPr>
          </a:p>
        </p:txBody>
      </p:sp>
      <p:pic>
        <p:nvPicPr>
          <p:cNvPr id="8" name="Picture 2" descr="2014_logo_only_reverse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492" y="160738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9430" indent="-28575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rgbClr val="FFFF00"/>
          </a:solidFill>
          <a:latin typeface="+mn-lt"/>
          <a:ea typeface="+mn-ea"/>
          <a:cs typeface="+mn-cs"/>
        </a:defRPr>
      </a:lvl2pPr>
      <a:lvl3pPr marL="742950" indent="-228600" algn="l" defTabSz="914400" rtl="0" eaLnBrk="1" latinLnBrk="0" hangingPunct="1">
        <a:lnSpc>
          <a:spcPct val="89000"/>
        </a:lnSpc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accent4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976630" indent="-22860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Char char="–"/>
        <a:defRPr sz="1800" kern="1200">
          <a:solidFill>
            <a:srgbClr val="FFC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52400" y="1809750"/>
            <a:ext cx="5880735" cy="1671320"/>
          </a:xfrm>
        </p:spPr>
        <p:txBody>
          <a:bodyPr/>
          <a:lstStyle/>
          <a:p>
            <a:r>
              <a:rPr lang="en-US" dirty="0"/>
              <a:t>SmartBudget_Presentation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13360" y="2927598"/>
            <a:ext cx="5430203" cy="321394"/>
          </a:xfrm>
        </p:spPr>
        <p:txBody>
          <a:bodyPr/>
          <a:lstStyle/>
          <a:p>
            <a:r>
              <a:rPr lang="en-CA" dirty="0"/>
              <a:t>UBCO Master of Data Science – DATA 5</a:t>
            </a:r>
            <a:r>
              <a:rPr lang="en-US" altLang="en-CA" dirty="0"/>
              <a:t>33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SmartBudget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091055"/>
            <a:ext cx="9017635" cy="1769110"/>
          </a:xfrm>
        </p:spPr>
        <p:txBody>
          <a:bodyPr>
            <a:normAutofit/>
          </a:bodyPr>
          <a:lstStyle/>
          <a:p>
            <a:r>
              <a:rPr sz="2200" dirty="0"/>
              <a:t>Group Members:</a:t>
            </a:r>
          </a:p>
          <a:p>
            <a:r>
              <a:rPr sz="2200" dirty="0"/>
              <a:t>- Student </a:t>
            </a:r>
            <a:r>
              <a:rPr lang="en-US" sz="2200" dirty="0" err="1"/>
              <a:t>C</a:t>
            </a:r>
            <a:r>
              <a:rPr lang="en-US" altLang="zh-CN" sz="2200" dirty="0" err="1"/>
              <a:t>hongwen</a:t>
            </a:r>
            <a:r>
              <a:rPr lang="en-US" altLang="zh-CN" sz="2200" dirty="0"/>
              <a:t>(Peter) Sun</a:t>
            </a:r>
            <a:endParaRPr sz="2200" dirty="0"/>
          </a:p>
          <a:p>
            <a:r>
              <a:rPr sz="2200" dirty="0"/>
              <a:t>- Student </a:t>
            </a:r>
            <a:r>
              <a:rPr lang="en-US" sz="2200" dirty="0"/>
              <a:t>Yifu Zhao</a:t>
            </a:r>
            <a:endParaRPr sz="2200" dirty="0"/>
          </a:p>
          <a:p>
            <a:r>
              <a:rPr sz="2200" dirty="0"/>
              <a:t>- Student C</a:t>
            </a:r>
            <a:r>
              <a:rPr lang="en-US" sz="2200" dirty="0"/>
              <a:t>ho Wing Chan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343150"/>
            <a:ext cx="6515100" cy="1592580"/>
          </a:xfrm>
        </p:spPr>
        <p:txBody>
          <a:bodyPr/>
          <a:lstStyle/>
          <a:p>
            <a:pPr algn="just">
              <a:buFont typeface="Arial" panose="020B0704020202020204" pitchFamily="34" charset="0"/>
              <a:buChar char="•"/>
            </a:pPr>
            <a:r>
              <a:rPr lang="en-US" sz="1800" dirty="0">
                <a:sym typeface="+mn-ea"/>
              </a:rPr>
              <a:t>Allows </a:t>
            </a:r>
            <a:r>
              <a:rPr sz="1800" dirty="0">
                <a:sym typeface="+mn-ea"/>
              </a:rPr>
              <a:t>users </a:t>
            </a:r>
            <a:r>
              <a:rPr sz="1800" dirty="0"/>
              <a:t>add income and expense records, save, load and clean data in JSON format, and generate</a:t>
            </a:r>
            <a:r>
              <a:rPr lang="en-US" sz="1800" dirty="0"/>
              <a:t> basic financial summaries</a:t>
            </a:r>
            <a:r>
              <a:rPr sz="1800" dirty="0"/>
              <a:t> </a:t>
            </a:r>
          </a:p>
          <a:p>
            <a:pPr algn="just">
              <a:buFont typeface="Arial" panose="020B0704020202020204" pitchFamily="34" charset="0"/>
              <a:buChar char="•"/>
            </a:pPr>
            <a:r>
              <a:rPr sz="1800" dirty="0"/>
              <a:t>Th</a:t>
            </a:r>
            <a:r>
              <a:rPr lang="en-US" sz="1800" dirty="0"/>
              <a:t>e project demonstrates modular programming, object-oriented </a:t>
            </a:r>
            <a:r>
              <a:rPr lang="en-HK" sz="1800" dirty="0"/>
              <a:t>design</a:t>
            </a:r>
            <a:r>
              <a:rPr lang="en-US" sz="1800" dirty="0"/>
              <a:t>, and practical data handling.</a:t>
            </a:r>
            <a:endParaRPr sz="18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074535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7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en-US" sz="4000" dirty="0">
                <a:solidFill>
                  <a:srgbClr val="14FD3A"/>
                </a:solidFill>
                <a:sym typeface="+mn-ea"/>
              </a:rPr>
              <a:t>SmartBudget</a:t>
            </a:r>
            <a:r>
              <a:rPr sz="4000">
                <a:sym typeface="+mn-ea"/>
              </a:rPr>
              <a:t> is a lightweight Python package for managing household finances. </a:t>
            </a:r>
            <a:endParaRPr lang="el-GR" sz="4000">
              <a:cs typeface="Arial" panose="020B0704020202020204" pitchFamily="34" charset="0"/>
            </a:endParaRPr>
          </a:p>
        </p:txBody>
      </p:sp>
      <p:sp>
        <p:nvSpPr>
          <p:cNvPr id="8196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52400" y="1200150"/>
            <a:ext cx="65151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/>
          <a:lstStyle/>
          <a:p>
            <a:endParaRPr lang="en-US" sz="1350"/>
          </a:p>
        </p:txBody>
      </p:sp>
      <p:sp>
        <p:nvSpPr>
          <p:cNvPr id="8197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2400" y="2071688"/>
            <a:ext cx="65151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/>
          <a:lstStyle/>
          <a:p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52500"/>
            <a:ext cx="8001000" cy="4210050"/>
          </a:xfrm>
        </p:spPr>
        <p:txBody>
          <a:bodyPr>
            <a:noAutofit/>
          </a:bodyPr>
          <a:lstStyle/>
          <a:p>
            <a:pPr algn="just" fontAlgn="auto">
              <a:spcBef>
                <a:spcPts val="0"/>
              </a:spcBef>
              <a:spcAft>
                <a:spcPts val="3000"/>
              </a:spcAft>
            </a:pPr>
            <a:r>
              <a:rPr sz="1400" dirty="0"/>
              <a:t>It contains four sub-packages:</a:t>
            </a:r>
          </a:p>
          <a:p>
            <a:r>
              <a:rPr sz="1400" dirty="0"/>
              <a:t>1. </a:t>
            </a:r>
            <a:r>
              <a:rPr lang="en-US" sz="1400" b="1" dirty="0">
                <a:solidFill>
                  <a:srgbClr val="14FD3A"/>
                </a:solidFill>
              </a:rPr>
              <a:t>entity </a:t>
            </a:r>
            <a:r>
              <a:rPr sz="1400" dirty="0"/>
              <a:t>– </a:t>
            </a:r>
            <a:r>
              <a:rPr lang="en-HK" sz="1400" dirty="0"/>
              <a:t>Defines the abstract parent class for all financial records, handles validation and serialization, provides functions for computing financial totals and balances, and specifies the two main record types: Income and Expense.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endParaRPr lang="en-HK"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endParaRPr sz="1400" dirty="0"/>
          </a:p>
          <a:p>
            <a:r>
              <a:rPr sz="1400" dirty="0"/>
              <a:t>2. </a:t>
            </a:r>
            <a:r>
              <a:rPr lang="en-US" sz="1400" b="1" dirty="0">
                <a:solidFill>
                  <a:srgbClr val="14FD3A"/>
                </a:solidFill>
              </a:rPr>
              <a:t>analysis</a:t>
            </a:r>
            <a:r>
              <a:rPr sz="1400" dirty="0"/>
              <a:t> – </a:t>
            </a:r>
            <a:r>
              <a:rPr lang="en-HK" sz="1400" dirty="0"/>
              <a:t>Provides functions that compute financial totals and balances, along with detailed breakdowns and formatted reporting.</a:t>
            </a:r>
          </a:p>
          <a:p>
            <a:pPr algn="just" fontAlgn="auto">
              <a:spcBef>
                <a:spcPts val="0"/>
              </a:spcBef>
              <a:spcAft>
                <a:spcPts val="1000"/>
              </a:spcAft>
            </a:pPr>
            <a:endParaRPr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sz="1400" dirty="0"/>
              <a:t>3. </a:t>
            </a:r>
            <a:r>
              <a:rPr lang="en-US" sz="1400" b="1" dirty="0">
                <a:solidFill>
                  <a:srgbClr val="14FD3A"/>
                </a:solidFill>
              </a:rPr>
              <a:t>io</a:t>
            </a:r>
            <a:r>
              <a:rPr sz="1400" dirty="0"/>
              <a:t> – </a:t>
            </a:r>
            <a:r>
              <a:rPr lang="en-HK" sz="1400" dirty="0"/>
              <a:t>Handles all record-related actions such as adding, listing, and summarizing, manages file saving, loading, and maintenance, and implements the command-line user interface loop.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HK"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sz="1400" dirty="0"/>
              <a:t>4. </a:t>
            </a:r>
            <a:r>
              <a:rPr lang="en-US" sz="1400" b="1" dirty="0">
                <a:solidFill>
                  <a:srgbClr val="14FD3A"/>
                </a:solidFill>
              </a:rPr>
              <a:t>core</a:t>
            </a:r>
            <a:r>
              <a:rPr sz="1400" dirty="0"/>
              <a:t> – </a:t>
            </a:r>
            <a:r>
              <a:rPr lang="en-HK" sz="1400" dirty="0"/>
              <a:t>Offers low-level JSON read/write utilities and general file operations in the /files directory.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11910"/>
            <a:ext cx="8242300" cy="1094740"/>
          </a:xfrm>
        </p:spPr>
        <p:txBody>
          <a:bodyPr>
            <a:normAutofit/>
          </a:bodyPr>
          <a:lstStyle/>
          <a:p>
            <a:pPr algn="just"/>
            <a:r>
              <a:rPr sz="2000"/>
              <a:t>The </a:t>
            </a:r>
            <a:r>
              <a:rPr lang="en-US" sz="2000" b="1" dirty="0">
                <a:solidFill>
                  <a:srgbClr val="14FD3A"/>
                </a:solidFill>
              </a:rPr>
              <a:t>analysis package </a:t>
            </a:r>
            <a:r>
              <a:rPr sz="2000"/>
              <a:t>is responsible for turning raw income and expense records into useful financial summaries and insights that help users understand their household budget.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28600" y="1200150"/>
            <a:ext cx="8209915" cy="1176655"/>
            <a:chOff x="360" y="3210"/>
            <a:chExt cx="10260" cy="185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360" y="321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360" y="50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152400" y="2495550"/>
            <a:ext cx="457200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Calculates the total amount of all recorded income entries to show how much money is coming in.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Calculates the total amount of all recorded expenses, preserving negative values to reflect money going out.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incomes,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Combines total income and total expenses to produce the final budget balance</a:t>
            </a:r>
            <a:r>
              <a:rPr lang="en-US" sz="1200">
                <a:sym typeface="+mn-ea"/>
              </a:rPr>
              <a:t>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724400" y="2495550"/>
            <a:ext cx="405892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Generates readable text descriptions for each expense so users can easily review their spending history.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Generates readable text descriptions for each income record so users can easily review their earning history.</a:t>
            </a:r>
            <a:endParaRPr sz="1200"/>
          </a:p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largest_expenses</a:t>
            </a:r>
            <a:endParaRPr sz="1200"/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Identifies and returns the top largest expenses based on absolute value, helping users spot major spending areas.</a:t>
            </a:r>
            <a:endParaRPr lang="en-US" sz="120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2400" y="4518660"/>
            <a:ext cx="43148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largest_incomes</a:t>
            </a:r>
            <a:endParaRPr sz="1200"/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Identifies and returns the top largest income sources in descending order</a:t>
            </a:r>
            <a:r>
              <a:rPr lang="en-US" sz="1200">
                <a:sym typeface="+mn-ea"/>
              </a:rPr>
              <a:t>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752975" y="4498340"/>
            <a:ext cx="38582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records)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Displays a clean, formatted list of records under a given title to improve readability of output.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05940"/>
            <a:ext cx="6486525" cy="1178560"/>
          </a:xfrm>
        </p:spPr>
        <p:txBody>
          <a:bodyPr>
            <a:normAutofit lnSpcReduction="10000"/>
          </a:bodyPr>
          <a:lstStyle/>
          <a:p>
            <a:endParaRPr sz="22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</a:t>
            </a:r>
            <a:r>
              <a:rPr sz="1600"/>
              <a:t>It allows users to save their financial data and reload it later.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1600"/>
              <a:t> </a:t>
            </a:r>
            <a:r>
              <a:rPr sz="1600"/>
              <a:t>All data files are managed inside a dedicated storage folde</a:t>
            </a:r>
            <a:r>
              <a:rPr sz="2000"/>
              <a:t>r.</a:t>
            </a:r>
          </a:p>
          <a:p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endParaRPr lang="en-US"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2400" y="1200150"/>
            <a:ext cx="7477125" cy="871855"/>
            <a:chOff x="240" y="1890"/>
            <a:chExt cx="10260" cy="137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40" y="189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40" y="32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555865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65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sz="4000">
                <a:sym typeface="+mn-ea"/>
              </a:rPr>
              <a:t>The </a:t>
            </a:r>
            <a:r>
              <a:rPr lang="en-US" sz="4000" dirty="0">
                <a:solidFill>
                  <a:srgbClr val="14FD3A"/>
                </a:solidFill>
                <a:sym typeface="+mn-ea"/>
              </a:rPr>
              <a:t>I/O </a:t>
            </a:r>
            <a:r>
              <a:rPr sz="4000">
                <a:sym typeface="+mn-ea"/>
              </a:rPr>
              <a:t>package handles persistent data storage and file operations for the SmartBudget system.</a:t>
            </a:r>
            <a:endParaRPr lang="el-GR" sz="4000">
              <a:cs typeface="Arial" panose="020B07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2400" y="3028950"/>
            <a:ext cx="3884295" cy="1511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save to json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Converts income and expense records into a structured JSON format and saves them as a file in the system’s storage directory.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load from json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Loads a JSON file from storage and reconstructs financial records back into usable objects.</a:t>
            </a:r>
            <a:endParaRPr lang="en-US" sz="12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0" y="3028950"/>
            <a:ext cx="364363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file exists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Checks whether a specific data file already exists to prevent overwriting or loading errors.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delete file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Removes a selected data file from the storage directory to help users manage their saved data.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list files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Displays all available saved data files so users can easily choose what to load or delete.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357755"/>
            <a:ext cx="7366635" cy="1477010"/>
          </a:xfrm>
        </p:spPr>
        <p:txBody>
          <a:bodyPr>
            <a:normAutofit/>
          </a:bodyPr>
          <a:lstStyle/>
          <a:p>
            <a:r>
              <a:rPr sz="2000" dirty="0"/>
              <a:t>It</a:t>
            </a:r>
            <a:r>
              <a:rPr lang="en-US" sz="2000" dirty="0"/>
              <a:t> coordinates user input, record management, and file operations by routing actions to the correct modules.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2400" y="1200150"/>
            <a:ext cx="7608570" cy="871855"/>
            <a:chOff x="240" y="1890"/>
            <a:chExt cx="10260" cy="137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40" y="189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40" y="32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649210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7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sz="4000" dirty="0">
                <a:sym typeface="+mn-ea"/>
              </a:rPr>
              <a:t>The </a:t>
            </a:r>
            <a:r>
              <a:rPr lang="en-US" sz="4000" dirty="0">
                <a:solidFill>
                  <a:srgbClr val="14FD3A"/>
                </a:solidFill>
                <a:sym typeface="+mn-ea"/>
              </a:rPr>
              <a:t>core package</a:t>
            </a:r>
            <a:r>
              <a:rPr lang="en-HK" sz="4000" dirty="0">
                <a:sym typeface="+mn-ea"/>
              </a:rPr>
              <a:t> provides the application logic layer .</a:t>
            </a:r>
            <a:endParaRPr lang="el-GR" sz="4000" dirty="0">
              <a:cs typeface="Arial" panose="020B07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2717" y="3002878"/>
            <a:ext cx="760793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contoller_records.py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algn="just" fontAlgn="auto"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sym typeface="+mn-ea"/>
              </a:rPr>
              <a:t>Handles all operations related to adding, updating and displaying financial records.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0502" y="3656895"/>
            <a:ext cx="805434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contoller_system.py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dirty="0">
                <a:sym typeface="+mn-ea"/>
              </a:rPr>
              <a:t>Manages all file-level operations for </a:t>
            </a:r>
            <a:r>
              <a:rPr lang="en-US" sz="1600" dirty="0" err="1">
                <a:sym typeface="+mn-ea"/>
              </a:rPr>
              <a:t>SmartBudget’s</a:t>
            </a:r>
            <a:r>
              <a:rPr lang="en-US" sz="1600" dirty="0">
                <a:sym typeface="+mn-ea"/>
              </a:rPr>
              <a:t> storage.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4C4167D-DBE6-AFD9-6E18-69A1B3C37E07}"/>
              </a:ext>
            </a:extLst>
          </p:cNvPr>
          <p:cNvSpPr txBox="1"/>
          <p:nvPr/>
        </p:nvSpPr>
        <p:spPr>
          <a:xfrm>
            <a:off x="173257" y="4272448"/>
            <a:ext cx="805434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contoller_menu.py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dirty="0">
                <a:sym typeface="+mn-ea"/>
              </a:rPr>
              <a:t>Implements the command-line menu interface and handles user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SmartBudget </a:t>
            </a:r>
            <a:r>
              <a:rPr lang="en-US" sz="2000"/>
              <a:t>aim: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A complete class hierarchy for financial records.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Summary and insight analysis functions.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JSON-based persistence. 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File management utilities.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A menu-driven main application.</a:t>
            </a:r>
            <a:endParaRPr lang="en-US" sz="2000"/>
          </a:p>
          <a:p>
            <a:pPr marL="0" indent="0">
              <a:buNone/>
            </a:pP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1809750"/>
            <a:ext cx="16808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olidFill>
                  <a:schemeClr val="bg1"/>
                </a:solidFill>
                <a:sym typeface="+mn-ea"/>
              </a:rPr>
              <a:t>Thank you!</a:t>
            </a:r>
            <a:endParaRPr 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On-screen Show (16:9)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Whitney Book</vt:lpstr>
      <vt:lpstr>Arial</vt:lpstr>
      <vt:lpstr>Calibri</vt:lpstr>
      <vt:lpstr>Symbol</vt:lpstr>
      <vt:lpstr>Wingdings</vt:lpstr>
      <vt:lpstr>Office Theme</vt:lpstr>
      <vt:lpstr>PowerPoint Presentation</vt:lpstr>
      <vt:lpstr>SmartBudget Project</vt:lpstr>
      <vt:lpstr>Project Overview</vt:lpstr>
      <vt:lpstr>Package Structure</vt:lpstr>
      <vt:lpstr>Analysis Package</vt:lpstr>
      <vt:lpstr>IO Package</vt:lpstr>
      <vt:lpstr>Core Package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531 - Python Introduction</dc:title>
  <dc:creator/>
  <cp:lastModifiedBy/>
  <cp:revision>20</cp:revision>
  <dcterms:created xsi:type="dcterms:W3CDTF">2025-11-24T19:14:50Z</dcterms:created>
  <dcterms:modified xsi:type="dcterms:W3CDTF">2025-11-25T19:55:47Z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43D9FFD5C2E1838A29E42369AED478D2_42</vt:lpwstr>
  </property>
  <property fmtid="{D5CDD505-2E9C-101B-9397-08002B2CF9AE}" pid="3" name="KSOProductBuildVer">
    <vt:lpwstr>1033-6.8.2.8850</vt:lpwstr>
  </property>
</Properties>
</file>